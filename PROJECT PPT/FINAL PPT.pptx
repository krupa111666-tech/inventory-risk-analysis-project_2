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7.xml" ContentType="application/vnd.openxmlformats-officedocument.presentationml.tags+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8.xml" ContentType="application/vnd.openxmlformats-officedocument.presentationml.tags+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9.xml" ContentType="application/vnd.openxmlformats-officedocument.presentationml.tags+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14.xml" ContentType="application/vnd.openxmlformats-officedocument.presentationml.tags+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15.xml" ContentType="application/vnd.openxmlformats-officedocument.presentationml.tags+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client id="{DDC0B4EE-2D5D-447B-AE11-6BA75CAE74F0}" v="57" dt="2026-02-19T11:04:26.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2" d="100"/>
          <a:sy n="162" d="100"/>
        </p:scale>
        <p:origin x="144" y="210"/>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DF6877-4365-4942-98C8-8CB2BE08074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AC707FFD-2796-4BD3-B74C-949C57E6A61B}">
      <dgm:prSet/>
      <dgm:spPr/>
      <dgm:t>
        <a:bodyPr/>
        <a:lstStyle/>
        <a:p>
          <a:r>
            <a:rPr lang="en-US"/>
            <a:t>Abstract of the Project</a:t>
          </a:r>
          <a:endParaRPr lang="en-IN"/>
        </a:p>
      </dgm:t>
    </dgm:pt>
    <dgm:pt modelId="{4DC3F471-6618-4D50-B0CC-3F5E9A3934F1}" type="parTrans" cxnId="{49800E95-8365-4B18-9F8B-89F0B07921B6}">
      <dgm:prSet/>
      <dgm:spPr/>
      <dgm:t>
        <a:bodyPr/>
        <a:lstStyle/>
        <a:p>
          <a:endParaRPr lang="en-IN"/>
        </a:p>
      </dgm:t>
    </dgm:pt>
    <dgm:pt modelId="{7152591B-D011-43C5-9585-8E7727376321}" type="sibTrans" cxnId="{49800E95-8365-4B18-9F8B-89F0B07921B6}">
      <dgm:prSet/>
      <dgm:spPr/>
      <dgm:t>
        <a:bodyPr/>
        <a:lstStyle/>
        <a:p>
          <a:endParaRPr lang="en-IN"/>
        </a:p>
      </dgm:t>
    </dgm:pt>
    <dgm:pt modelId="{86DED1EA-478D-4E68-A7B9-14A49A8FF887}">
      <dgm:prSet/>
      <dgm:spPr/>
      <dgm:t>
        <a:bodyPr/>
        <a:lstStyle/>
        <a:p>
          <a:r>
            <a:rPr lang="en-US"/>
            <a:t>Problem Statement</a:t>
          </a:r>
          <a:endParaRPr lang="en-IN"/>
        </a:p>
      </dgm:t>
    </dgm:pt>
    <dgm:pt modelId="{EFBAF2C6-92C3-4A70-87F9-1E185B19E943}" type="parTrans" cxnId="{49BD2A97-39D6-4A18-9DBE-5DA8DDC3FCA3}">
      <dgm:prSet/>
      <dgm:spPr/>
      <dgm:t>
        <a:bodyPr/>
        <a:lstStyle/>
        <a:p>
          <a:endParaRPr lang="en-IN"/>
        </a:p>
      </dgm:t>
    </dgm:pt>
    <dgm:pt modelId="{2562C72C-6B20-4376-94CE-A0D2E8767366}" type="sibTrans" cxnId="{49BD2A97-39D6-4A18-9DBE-5DA8DDC3FCA3}">
      <dgm:prSet/>
      <dgm:spPr/>
      <dgm:t>
        <a:bodyPr/>
        <a:lstStyle/>
        <a:p>
          <a:endParaRPr lang="en-IN"/>
        </a:p>
      </dgm:t>
    </dgm:pt>
    <dgm:pt modelId="{CE05B201-1E03-4A81-8D33-E1E325628A30}">
      <dgm:prSet/>
      <dgm:spPr/>
      <dgm:t>
        <a:bodyPr/>
        <a:lstStyle/>
        <a:p>
          <a:r>
            <a:rPr lang="en-US"/>
            <a:t>Proposed Solution</a:t>
          </a:r>
          <a:endParaRPr lang="en-IN"/>
        </a:p>
      </dgm:t>
    </dgm:pt>
    <dgm:pt modelId="{A61694B3-A559-43EB-AAF7-0C63459EAD8B}" type="parTrans" cxnId="{0D762262-9AFB-4D61-A7FF-9AAC480E45A7}">
      <dgm:prSet/>
      <dgm:spPr/>
      <dgm:t>
        <a:bodyPr/>
        <a:lstStyle/>
        <a:p>
          <a:endParaRPr lang="en-IN"/>
        </a:p>
      </dgm:t>
    </dgm:pt>
    <dgm:pt modelId="{73768621-EFAA-45CE-99E6-3BE0BB144F97}" type="sibTrans" cxnId="{0D762262-9AFB-4D61-A7FF-9AAC480E45A7}">
      <dgm:prSet/>
      <dgm:spPr/>
      <dgm:t>
        <a:bodyPr/>
        <a:lstStyle/>
        <a:p>
          <a:endParaRPr lang="en-IN"/>
        </a:p>
      </dgm:t>
    </dgm:pt>
    <dgm:pt modelId="{92E3964A-F8EB-4F24-AC6B-E3D51F4FFBE9}">
      <dgm:prSet/>
      <dgm:spPr/>
      <dgm:t>
        <a:bodyPr/>
        <a:lstStyle/>
        <a:p>
          <a:r>
            <a:rPr lang="en-US"/>
            <a:t>System Architecture</a:t>
          </a:r>
          <a:endParaRPr lang="en-IN"/>
        </a:p>
      </dgm:t>
    </dgm:pt>
    <dgm:pt modelId="{827FE32C-75F5-4B64-BB70-8B07A0081EE2}" type="parTrans" cxnId="{40BF65E1-2807-4038-842C-AD352726F06F}">
      <dgm:prSet/>
      <dgm:spPr/>
      <dgm:t>
        <a:bodyPr/>
        <a:lstStyle/>
        <a:p>
          <a:endParaRPr lang="en-IN"/>
        </a:p>
      </dgm:t>
    </dgm:pt>
    <dgm:pt modelId="{B67FD458-1EEE-40F4-878F-0FC1307C2D0D}" type="sibTrans" cxnId="{40BF65E1-2807-4038-842C-AD352726F06F}">
      <dgm:prSet/>
      <dgm:spPr/>
      <dgm:t>
        <a:bodyPr/>
        <a:lstStyle/>
        <a:p>
          <a:endParaRPr lang="en-IN"/>
        </a:p>
      </dgm:t>
    </dgm:pt>
    <dgm:pt modelId="{FC1F3385-57D8-4D4A-ACFD-21BFAA7BB213}">
      <dgm:prSet/>
      <dgm:spPr/>
      <dgm:t>
        <a:bodyPr/>
        <a:lstStyle/>
        <a:p>
          <a:r>
            <a:rPr lang="en-US"/>
            <a:t>Live Demo of the Project</a:t>
          </a:r>
          <a:endParaRPr lang="en-IN"/>
        </a:p>
      </dgm:t>
    </dgm:pt>
    <dgm:pt modelId="{65C4BD98-21DA-4D2A-BF3A-471C1649981B}" type="parTrans" cxnId="{4BC17B44-EF7C-4F22-9315-0E8BD3408ED2}">
      <dgm:prSet/>
      <dgm:spPr/>
      <dgm:t>
        <a:bodyPr/>
        <a:lstStyle/>
        <a:p>
          <a:endParaRPr lang="en-IN"/>
        </a:p>
      </dgm:t>
    </dgm:pt>
    <dgm:pt modelId="{093020FD-28FB-4C72-A90D-1A6210E1807A}" type="sibTrans" cxnId="{4BC17B44-EF7C-4F22-9315-0E8BD3408ED2}">
      <dgm:prSet/>
      <dgm:spPr/>
      <dgm:t>
        <a:bodyPr/>
        <a:lstStyle/>
        <a:p>
          <a:endParaRPr lang="en-IN"/>
        </a:p>
      </dgm:t>
    </dgm:pt>
    <dgm:pt modelId="{D7EEC232-EE93-406C-B189-7FF24219DF56}">
      <dgm:prSet/>
      <dgm:spPr/>
      <dgm:t>
        <a:bodyPr/>
        <a:lstStyle/>
        <a:p>
          <a:r>
            <a:rPr lang="en-US"/>
            <a:t>Embedded Video of Project</a:t>
          </a:r>
          <a:endParaRPr lang="en-IN"/>
        </a:p>
      </dgm:t>
    </dgm:pt>
    <dgm:pt modelId="{BC854173-7CE1-46B4-9652-172CA78CA005}" type="parTrans" cxnId="{A7438BB1-91D1-4532-9BA7-1F4BD3084698}">
      <dgm:prSet/>
      <dgm:spPr/>
      <dgm:t>
        <a:bodyPr/>
        <a:lstStyle/>
        <a:p>
          <a:endParaRPr lang="en-IN"/>
        </a:p>
      </dgm:t>
    </dgm:pt>
    <dgm:pt modelId="{FD25F17D-2276-4527-B574-E068C6EA8E30}" type="sibTrans" cxnId="{A7438BB1-91D1-4532-9BA7-1F4BD3084698}">
      <dgm:prSet/>
      <dgm:spPr/>
      <dgm:t>
        <a:bodyPr/>
        <a:lstStyle/>
        <a:p>
          <a:endParaRPr lang="en-IN"/>
        </a:p>
      </dgm:t>
    </dgm:pt>
    <dgm:pt modelId="{54DA5D78-01E6-4FC0-ABE6-41AD02A3AC96}">
      <dgm:prSet/>
      <dgm:spPr/>
      <dgm:t>
        <a:bodyPr/>
        <a:lstStyle/>
        <a:p>
          <a:r>
            <a:rPr lang="en-IN"/>
            <a:t>Conclusion</a:t>
          </a:r>
        </a:p>
      </dgm:t>
    </dgm:pt>
    <dgm:pt modelId="{E668D026-CA01-47B2-A78D-FEC44C64B108}" type="parTrans" cxnId="{ACC9293C-E7FD-437C-876F-3E429BA6A21B}">
      <dgm:prSet/>
      <dgm:spPr/>
      <dgm:t>
        <a:bodyPr/>
        <a:lstStyle/>
        <a:p>
          <a:endParaRPr lang="en-IN"/>
        </a:p>
      </dgm:t>
    </dgm:pt>
    <dgm:pt modelId="{453EAA30-B5CB-41DB-BF7A-2890104BA9E1}" type="sibTrans" cxnId="{ACC9293C-E7FD-437C-876F-3E429BA6A21B}">
      <dgm:prSet/>
      <dgm:spPr/>
      <dgm:t>
        <a:bodyPr/>
        <a:lstStyle/>
        <a:p>
          <a:endParaRPr lang="en-IN"/>
        </a:p>
      </dgm:t>
    </dgm:pt>
    <dgm:pt modelId="{67A02A5A-9F0E-4FDD-BCA9-AAA44A4F362B}">
      <dgm:prSet/>
      <dgm:spPr/>
      <dgm:t>
        <a:bodyPr/>
        <a:lstStyle/>
        <a:p>
          <a:r>
            <a:rPr lang="en-US"/>
            <a:t>Future Scope</a:t>
          </a:r>
          <a:endParaRPr lang="en-IN"/>
        </a:p>
      </dgm:t>
    </dgm:pt>
    <dgm:pt modelId="{3B731A8D-9E4F-4F60-9979-FD9C260C4DA8}" type="parTrans" cxnId="{02AF4623-87D3-49F4-B17E-89AFE29BA3B4}">
      <dgm:prSet/>
      <dgm:spPr/>
      <dgm:t>
        <a:bodyPr/>
        <a:lstStyle/>
        <a:p>
          <a:endParaRPr lang="en-IN"/>
        </a:p>
      </dgm:t>
    </dgm:pt>
    <dgm:pt modelId="{C0D7B052-2E73-47E3-A269-97480DE7A5F3}" type="sibTrans" cxnId="{02AF4623-87D3-49F4-B17E-89AFE29BA3B4}">
      <dgm:prSet/>
      <dgm:spPr/>
      <dgm:t>
        <a:bodyPr/>
        <a:lstStyle/>
        <a:p>
          <a:endParaRPr lang="en-IN"/>
        </a:p>
      </dgm:t>
    </dgm:pt>
    <dgm:pt modelId="{3CC4C4F0-184A-4D09-8254-77761707033D}" type="pres">
      <dgm:prSet presAssocID="{BCDF6877-4365-4942-98C8-8CB2BE080743}" presName="linear" presStyleCnt="0">
        <dgm:presLayoutVars>
          <dgm:animLvl val="lvl"/>
          <dgm:resizeHandles val="exact"/>
        </dgm:presLayoutVars>
      </dgm:prSet>
      <dgm:spPr/>
    </dgm:pt>
    <dgm:pt modelId="{40F5EEE1-D163-431D-846E-550116A316FD}" type="pres">
      <dgm:prSet presAssocID="{AC707FFD-2796-4BD3-B74C-949C57E6A61B}" presName="parentText" presStyleLbl="node1" presStyleIdx="0" presStyleCnt="8">
        <dgm:presLayoutVars>
          <dgm:chMax val="0"/>
          <dgm:bulletEnabled val="1"/>
        </dgm:presLayoutVars>
      </dgm:prSet>
      <dgm:spPr/>
    </dgm:pt>
    <dgm:pt modelId="{0B3CC3DA-E8B1-4670-B1C8-BFD843BD9740}" type="pres">
      <dgm:prSet presAssocID="{7152591B-D011-43C5-9585-8E7727376321}" presName="spacer" presStyleCnt="0"/>
      <dgm:spPr/>
    </dgm:pt>
    <dgm:pt modelId="{442FD273-630D-40BD-B6FF-F7549DC2418E}" type="pres">
      <dgm:prSet presAssocID="{86DED1EA-478D-4E68-A7B9-14A49A8FF887}" presName="parentText" presStyleLbl="node1" presStyleIdx="1" presStyleCnt="8">
        <dgm:presLayoutVars>
          <dgm:chMax val="0"/>
          <dgm:bulletEnabled val="1"/>
        </dgm:presLayoutVars>
      </dgm:prSet>
      <dgm:spPr/>
    </dgm:pt>
    <dgm:pt modelId="{1EFF5300-A7B2-4104-8880-80EE5B2AC5FB}" type="pres">
      <dgm:prSet presAssocID="{2562C72C-6B20-4376-94CE-A0D2E8767366}" presName="spacer" presStyleCnt="0"/>
      <dgm:spPr/>
    </dgm:pt>
    <dgm:pt modelId="{43548909-4190-45C4-A860-A43DEF740527}" type="pres">
      <dgm:prSet presAssocID="{CE05B201-1E03-4A81-8D33-E1E325628A30}" presName="parentText" presStyleLbl="node1" presStyleIdx="2" presStyleCnt="8">
        <dgm:presLayoutVars>
          <dgm:chMax val="0"/>
          <dgm:bulletEnabled val="1"/>
        </dgm:presLayoutVars>
      </dgm:prSet>
      <dgm:spPr/>
    </dgm:pt>
    <dgm:pt modelId="{30731CAE-1C99-40ED-B9F2-3010491F9598}" type="pres">
      <dgm:prSet presAssocID="{73768621-EFAA-45CE-99E6-3BE0BB144F97}" presName="spacer" presStyleCnt="0"/>
      <dgm:spPr/>
    </dgm:pt>
    <dgm:pt modelId="{81FB44B3-A41F-4C53-909D-9699C1DAFED3}" type="pres">
      <dgm:prSet presAssocID="{92E3964A-F8EB-4F24-AC6B-E3D51F4FFBE9}" presName="parentText" presStyleLbl="node1" presStyleIdx="3" presStyleCnt="8">
        <dgm:presLayoutVars>
          <dgm:chMax val="0"/>
          <dgm:bulletEnabled val="1"/>
        </dgm:presLayoutVars>
      </dgm:prSet>
      <dgm:spPr/>
    </dgm:pt>
    <dgm:pt modelId="{8B81881D-EB20-4BFF-BCD1-1874450438E3}" type="pres">
      <dgm:prSet presAssocID="{B67FD458-1EEE-40F4-878F-0FC1307C2D0D}" presName="spacer" presStyleCnt="0"/>
      <dgm:spPr/>
    </dgm:pt>
    <dgm:pt modelId="{0EBDD477-9270-42C8-A5C3-B365B01AE226}" type="pres">
      <dgm:prSet presAssocID="{FC1F3385-57D8-4D4A-ACFD-21BFAA7BB213}" presName="parentText" presStyleLbl="node1" presStyleIdx="4" presStyleCnt="8">
        <dgm:presLayoutVars>
          <dgm:chMax val="0"/>
          <dgm:bulletEnabled val="1"/>
        </dgm:presLayoutVars>
      </dgm:prSet>
      <dgm:spPr/>
    </dgm:pt>
    <dgm:pt modelId="{B4DACC75-C4F7-45AF-A7B8-4716B691249E}" type="pres">
      <dgm:prSet presAssocID="{093020FD-28FB-4C72-A90D-1A6210E1807A}" presName="spacer" presStyleCnt="0"/>
      <dgm:spPr/>
    </dgm:pt>
    <dgm:pt modelId="{0ABF140C-CDCF-4969-87AE-4EC29322555B}" type="pres">
      <dgm:prSet presAssocID="{D7EEC232-EE93-406C-B189-7FF24219DF56}" presName="parentText" presStyleLbl="node1" presStyleIdx="5" presStyleCnt="8">
        <dgm:presLayoutVars>
          <dgm:chMax val="0"/>
          <dgm:bulletEnabled val="1"/>
        </dgm:presLayoutVars>
      </dgm:prSet>
      <dgm:spPr/>
    </dgm:pt>
    <dgm:pt modelId="{1CE21D71-2D3A-47EC-B17F-0811A4E3E751}" type="pres">
      <dgm:prSet presAssocID="{FD25F17D-2276-4527-B574-E068C6EA8E30}" presName="spacer" presStyleCnt="0"/>
      <dgm:spPr/>
    </dgm:pt>
    <dgm:pt modelId="{27984C79-1EA5-4486-BB14-EF6037403848}" type="pres">
      <dgm:prSet presAssocID="{54DA5D78-01E6-4FC0-ABE6-41AD02A3AC96}" presName="parentText" presStyleLbl="node1" presStyleIdx="6" presStyleCnt="8">
        <dgm:presLayoutVars>
          <dgm:chMax val="0"/>
          <dgm:bulletEnabled val="1"/>
        </dgm:presLayoutVars>
      </dgm:prSet>
      <dgm:spPr/>
    </dgm:pt>
    <dgm:pt modelId="{4A755963-A469-438C-ADF6-68B37FA79234}" type="pres">
      <dgm:prSet presAssocID="{453EAA30-B5CB-41DB-BF7A-2890104BA9E1}" presName="spacer" presStyleCnt="0"/>
      <dgm:spPr/>
    </dgm:pt>
    <dgm:pt modelId="{A0F649D3-1AFE-49CF-936B-83C2DDD665ED}" type="pres">
      <dgm:prSet presAssocID="{67A02A5A-9F0E-4FDD-BCA9-AAA44A4F362B}" presName="parentText" presStyleLbl="node1" presStyleIdx="7" presStyleCnt="8">
        <dgm:presLayoutVars>
          <dgm:chMax val="0"/>
          <dgm:bulletEnabled val="1"/>
        </dgm:presLayoutVars>
      </dgm:prSet>
      <dgm:spPr/>
    </dgm:pt>
  </dgm:ptLst>
  <dgm:cxnLst>
    <dgm:cxn modelId="{02AF4623-87D3-49F4-B17E-89AFE29BA3B4}" srcId="{BCDF6877-4365-4942-98C8-8CB2BE080743}" destId="{67A02A5A-9F0E-4FDD-BCA9-AAA44A4F362B}" srcOrd="7" destOrd="0" parTransId="{3B731A8D-9E4F-4F60-9979-FD9C260C4DA8}" sibTransId="{C0D7B052-2E73-47E3-A269-97480DE7A5F3}"/>
    <dgm:cxn modelId="{4B6FB434-289F-4C96-8C5C-4C49A022FD08}" type="presOf" srcId="{92E3964A-F8EB-4F24-AC6B-E3D51F4FFBE9}" destId="{81FB44B3-A41F-4C53-909D-9699C1DAFED3}" srcOrd="0" destOrd="0" presId="urn:microsoft.com/office/officeart/2005/8/layout/vList2"/>
    <dgm:cxn modelId="{ACC9293C-E7FD-437C-876F-3E429BA6A21B}" srcId="{BCDF6877-4365-4942-98C8-8CB2BE080743}" destId="{54DA5D78-01E6-4FC0-ABE6-41AD02A3AC96}" srcOrd="6" destOrd="0" parTransId="{E668D026-CA01-47B2-A78D-FEC44C64B108}" sibTransId="{453EAA30-B5CB-41DB-BF7A-2890104BA9E1}"/>
    <dgm:cxn modelId="{0D762262-9AFB-4D61-A7FF-9AAC480E45A7}" srcId="{BCDF6877-4365-4942-98C8-8CB2BE080743}" destId="{CE05B201-1E03-4A81-8D33-E1E325628A30}" srcOrd="2" destOrd="0" parTransId="{A61694B3-A559-43EB-AAF7-0C63459EAD8B}" sibTransId="{73768621-EFAA-45CE-99E6-3BE0BB144F97}"/>
    <dgm:cxn modelId="{4BC17B44-EF7C-4F22-9315-0E8BD3408ED2}" srcId="{BCDF6877-4365-4942-98C8-8CB2BE080743}" destId="{FC1F3385-57D8-4D4A-ACFD-21BFAA7BB213}" srcOrd="4" destOrd="0" parTransId="{65C4BD98-21DA-4D2A-BF3A-471C1649981B}" sibTransId="{093020FD-28FB-4C72-A90D-1A6210E1807A}"/>
    <dgm:cxn modelId="{2DDDE749-C333-4CF9-8FEA-EC4C8B2B49D8}" type="presOf" srcId="{AC707FFD-2796-4BD3-B74C-949C57E6A61B}" destId="{40F5EEE1-D163-431D-846E-550116A316FD}" srcOrd="0" destOrd="0" presId="urn:microsoft.com/office/officeart/2005/8/layout/vList2"/>
    <dgm:cxn modelId="{937B7652-7957-4A55-ACB8-70AEE116FF5C}" type="presOf" srcId="{CE05B201-1E03-4A81-8D33-E1E325628A30}" destId="{43548909-4190-45C4-A860-A43DEF740527}" srcOrd="0" destOrd="0" presId="urn:microsoft.com/office/officeart/2005/8/layout/vList2"/>
    <dgm:cxn modelId="{259BE287-CF28-41C4-9D1A-E80BB5EF8034}" type="presOf" srcId="{D7EEC232-EE93-406C-B189-7FF24219DF56}" destId="{0ABF140C-CDCF-4969-87AE-4EC29322555B}" srcOrd="0" destOrd="0" presId="urn:microsoft.com/office/officeart/2005/8/layout/vList2"/>
    <dgm:cxn modelId="{49800E95-8365-4B18-9F8B-89F0B07921B6}" srcId="{BCDF6877-4365-4942-98C8-8CB2BE080743}" destId="{AC707FFD-2796-4BD3-B74C-949C57E6A61B}" srcOrd="0" destOrd="0" parTransId="{4DC3F471-6618-4D50-B0CC-3F5E9A3934F1}" sibTransId="{7152591B-D011-43C5-9585-8E7727376321}"/>
    <dgm:cxn modelId="{49BD2A97-39D6-4A18-9DBE-5DA8DDC3FCA3}" srcId="{BCDF6877-4365-4942-98C8-8CB2BE080743}" destId="{86DED1EA-478D-4E68-A7B9-14A49A8FF887}" srcOrd="1" destOrd="0" parTransId="{EFBAF2C6-92C3-4A70-87F9-1E185B19E943}" sibTransId="{2562C72C-6B20-4376-94CE-A0D2E8767366}"/>
    <dgm:cxn modelId="{5A7E71AD-23BB-4C81-876B-9DE632501D64}" type="presOf" srcId="{86DED1EA-478D-4E68-A7B9-14A49A8FF887}" destId="{442FD273-630D-40BD-B6FF-F7549DC2418E}" srcOrd="0" destOrd="0" presId="urn:microsoft.com/office/officeart/2005/8/layout/vList2"/>
    <dgm:cxn modelId="{A7438BB1-91D1-4532-9BA7-1F4BD3084698}" srcId="{BCDF6877-4365-4942-98C8-8CB2BE080743}" destId="{D7EEC232-EE93-406C-B189-7FF24219DF56}" srcOrd="5" destOrd="0" parTransId="{BC854173-7CE1-46B4-9652-172CA78CA005}" sibTransId="{FD25F17D-2276-4527-B574-E068C6EA8E30}"/>
    <dgm:cxn modelId="{FB1D9FBF-25E4-49AD-A2D0-48E4B394356A}" type="presOf" srcId="{FC1F3385-57D8-4D4A-ACFD-21BFAA7BB213}" destId="{0EBDD477-9270-42C8-A5C3-B365B01AE226}" srcOrd="0" destOrd="0" presId="urn:microsoft.com/office/officeart/2005/8/layout/vList2"/>
    <dgm:cxn modelId="{12A693C1-7761-40DD-80CA-1BC2199B6E65}" type="presOf" srcId="{BCDF6877-4365-4942-98C8-8CB2BE080743}" destId="{3CC4C4F0-184A-4D09-8254-77761707033D}" srcOrd="0" destOrd="0" presId="urn:microsoft.com/office/officeart/2005/8/layout/vList2"/>
    <dgm:cxn modelId="{C18438D0-ACC7-4764-AA9E-2E214DEE01FD}" type="presOf" srcId="{54DA5D78-01E6-4FC0-ABE6-41AD02A3AC96}" destId="{27984C79-1EA5-4486-BB14-EF6037403848}" srcOrd="0" destOrd="0" presId="urn:microsoft.com/office/officeart/2005/8/layout/vList2"/>
    <dgm:cxn modelId="{0F464BD6-15D4-4421-B916-66AE455DCF72}" type="presOf" srcId="{67A02A5A-9F0E-4FDD-BCA9-AAA44A4F362B}" destId="{A0F649D3-1AFE-49CF-936B-83C2DDD665ED}" srcOrd="0" destOrd="0" presId="urn:microsoft.com/office/officeart/2005/8/layout/vList2"/>
    <dgm:cxn modelId="{40BF65E1-2807-4038-842C-AD352726F06F}" srcId="{BCDF6877-4365-4942-98C8-8CB2BE080743}" destId="{92E3964A-F8EB-4F24-AC6B-E3D51F4FFBE9}" srcOrd="3" destOrd="0" parTransId="{827FE32C-75F5-4B64-BB70-8B07A0081EE2}" sibTransId="{B67FD458-1EEE-40F4-878F-0FC1307C2D0D}"/>
    <dgm:cxn modelId="{C6B21CDE-B70F-443C-B6B1-4BB1BFCC10EC}" type="presParOf" srcId="{3CC4C4F0-184A-4D09-8254-77761707033D}" destId="{40F5EEE1-D163-431D-846E-550116A316FD}" srcOrd="0" destOrd="0" presId="urn:microsoft.com/office/officeart/2005/8/layout/vList2"/>
    <dgm:cxn modelId="{E88ECA5C-D623-47C8-8881-01295591376E}" type="presParOf" srcId="{3CC4C4F0-184A-4D09-8254-77761707033D}" destId="{0B3CC3DA-E8B1-4670-B1C8-BFD843BD9740}" srcOrd="1" destOrd="0" presId="urn:microsoft.com/office/officeart/2005/8/layout/vList2"/>
    <dgm:cxn modelId="{0B43C803-BA4B-425D-924E-F92263CBCB76}" type="presParOf" srcId="{3CC4C4F0-184A-4D09-8254-77761707033D}" destId="{442FD273-630D-40BD-B6FF-F7549DC2418E}" srcOrd="2" destOrd="0" presId="urn:microsoft.com/office/officeart/2005/8/layout/vList2"/>
    <dgm:cxn modelId="{2094EA9E-315E-450C-B1CE-31E0FC4FF5AB}" type="presParOf" srcId="{3CC4C4F0-184A-4D09-8254-77761707033D}" destId="{1EFF5300-A7B2-4104-8880-80EE5B2AC5FB}" srcOrd="3" destOrd="0" presId="urn:microsoft.com/office/officeart/2005/8/layout/vList2"/>
    <dgm:cxn modelId="{2DA91DE6-C4A5-4DDE-8376-9FAB40DD31F8}" type="presParOf" srcId="{3CC4C4F0-184A-4D09-8254-77761707033D}" destId="{43548909-4190-45C4-A860-A43DEF740527}" srcOrd="4" destOrd="0" presId="urn:microsoft.com/office/officeart/2005/8/layout/vList2"/>
    <dgm:cxn modelId="{36B4E57C-0908-4C50-8B38-A35CB95FD151}" type="presParOf" srcId="{3CC4C4F0-184A-4D09-8254-77761707033D}" destId="{30731CAE-1C99-40ED-B9F2-3010491F9598}" srcOrd="5" destOrd="0" presId="urn:microsoft.com/office/officeart/2005/8/layout/vList2"/>
    <dgm:cxn modelId="{1D1ED029-D50E-450D-B77D-7A5B5DB08122}" type="presParOf" srcId="{3CC4C4F0-184A-4D09-8254-77761707033D}" destId="{81FB44B3-A41F-4C53-909D-9699C1DAFED3}" srcOrd="6" destOrd="0" presId="urn:microsoft.com/office/officeart/2005/8/layout/vList2"/>
    <dgm:cxn modelId="{77E2CB83-ED1A-4015-97F3-EC7644039CFF}" type="presParOf" srcId="{3CC4C4F0-184A-4D09-8254-77761707033D}" destId="{8B81881D-EB20-4BFF-BCD1-1874450438E3}" srcOrd="7" destOrd="0" presId="urn:microsoft.com/office/officeart/2005/8/layout/vList2"/>
    <dgm:cxn modelId="{E73A1F0B-6AC2-4E3E-90EE-CE4FB48D73A4}" type="presParOf" srcId="{3CC4C4F0-184A-4D09-8254-77761707033D}" destId="{0EBDD477-9270-42C8-A5C3-B365B01AE226}" srcOrd="8" destOrd="0" presId="urn:microsoft.com/office/officeart/2005/8/layout/vList2"/>
    <dgm:cxn modelId="{DC6F7567-FE5A-4706-84BD-8BBFAC05F8C7}" type="presParOf" srcId="{3CC4C4F0-184A-4D09-8254-77761707033D}" destId="{B4DACC75-C4F7-45AF-A7B8-4716B691249E}" srcOrd="9" destOrd="0" presId="urn:microsoft.com/office/officeart/2005/8/layout/vList2"/>
    <dgm:cxn modelId="{D36DBBCE-7763-4960-9BEC-4B6B5965625B}" type="presParOf" srcId="{3CC4C4F0-184A-4D09-8254-77761707033D}" destId="{0ABF140C-CDCF-4969-87AE-4EC29322555B}" srcOrd="10" destOrd="0" presId="urn:microsoft.com/office/officeart/2005/8/layout/vList2"/>
    <dgm:cxn modelId="{BA10353C-3B5C-49E6-9D29-A342F200BD6E}" type="presParOf" srcId="{3CC4C4F0-184A-4D09-8254-77761707033D}" destId="{1CE21D71-2D3A-47EC-B17F-0811A4E3E751}" srcOrd="11" destOrd="0" presId="urn:microsoft.com/office/officeart/2005/8/layout/vList2"/>
    <dgm:cxn modelId="{24D16D3A-5EA6-4E6C-B950-94BE553578D9}" type="presParOf" srcId="{3CC4C4F0-184A-4D09-8254-77761707033D}" destId="{27984C79-1EA5-4486-BB14-EF6037403848}" srcOrd="12" destOrd="0" presId="urn:microsoft.com/office/officeart/2005/8/layout/vList2"/>
    <dgm:cxn modelId="{EE646FF2-78C1-4255-BE9B-7189F2987696}" type="presParOf" srcId="{3CC4C4F0-184A-4D09-8254-77761707033D}" destId="{4A755963-A469-438C-ADF6-68B37FA79234}" srcOrd="13" destOrd="0" presId="urn:microsoft.com/office/officeart/2005/8/layout/vList2"/>
    <dgm:cxn modelId="{53B81214-B20D-4356-B08A-A8713382092A}" type="presParOf" srcId="{3CC4C4F0-184A-4D09-8254-77761707033D}" destId="{A0F649D3-1AFE-49CF-936B-83C2DDD665ED}" srcOrd="1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D26318-2846-407F-ADC3-E8223E4AE18C}"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IN"/>
        </a:p>
      </dgm:t>
    </dgm:pt>
    <dgm:pt modelId="{03D9093E-074C-46A7-A9F8-1E19D178BB9A}">
      <dgm:prSet/>
      <dgm:spPr/>
      <dgm:t>
        <a:bodyPr/>
        <a:lstStyle/>
        <a:p>
          <a:r>
            <a:rPr lang="en-US" dirty="0"/>
            <a:t>This project focuses on inventory analysis using data analytics techniques to improve stock management. The objective is to identify high-risk and slow-moving products using turnover ratio and sales data. Tools like Excel and Microsoft Power BI were used for data cleaning, analysis, and visualization. The project provides interactive dashboards that help businesses make better inventory decisions. The expected outcome is improved stock optimization and reduced losses due to unsold products.</a:t>
          </a:r>
          <a:endParaRPr lang="en-IN" dirty="0"/>
        </a:p>
      </dgm:t>
    </dgm:pt>
    <dgm:pt modelId="{B725E9B4-FADE-4A42-BEF3-DC39942670AF}" type="parTrans" cxnId="{332861C7-6799-497B-8ED0-3FE713492E34}">
      <dgm:prSet/>
      <dgm:spPr/>
      <dgm:t>
        <a:bodyPr/>
        <a:lstStyle/>
        <a:p>
          <a:endParaRPr lang="en-IN"/>
        </a:p>
      </dgm:t>
    </dgm:pt>
    <dgm:pt modelId="{3B34E359-A3C6-4136-A684-6231C74C450F}" type="sibTrans" cxnId="{332861C7-6799-497B-8ED0-3FE713492E34}">
      <dgm:prSet/>
      <dgm:spPr/>
      <dgm:t>
        <a:bodyPr/>
        <a:lstStyle/>
        <a:p>
          <a:endParaRPr lang="en-IN"/>
        </a:p>
      </dgm:t>
    </dgm:pt>
    <dgm:pt modelId="{DD717164-0F24-4329-BB2D-26C2B74B2418}" type="pres">
      <dgm:prSet presAssocID="{70D26318-2846-407F-ADC3-E8223E4AE18C}" presName="Name0" presStyleCnt="0">
        <dgm:presLayoutVars>
          <dgm:chMax val="7"/>
          <dgm:dir/>
          <dgm:animLvl val="lvl"/>
          <dgm:resizeHandles val="exact"/>
        </dgm:presLayoutVars>
      </dgm:prSet>
      <dgm:spPr/>
    </dgm:pt>
    <dgm:pt modelId="{B7B30E8D-244E-41BE-8154-0A8CCD949FA3}" type="pres">
      <dgm:prSet presAssocID="{03D9093E-074C-46A7-A9F8-1E19D178BB9A}" presName="circle1" presStyleLbl="node1" presStyleIdx="0" presStyleCnt="1"/>
      <dgm:spPr/>
    </dgm:pt>
    <dgm:pt modelId="{A08A6953-3060-46A5-8DE4-3E3024EE7D17}" type="pres">
      <dgm:prSet presAssocID="{03D9093E-074C-46A7-A9F8-1E19D178BB9A}" presName="space" presStyleCnt="0"/>
      <dgm:spPr/>
    </dgm:pt>
    <dgm:pt modelId="{7CCA3831-9A73-4694-A945-002CD63DE8F7}" type="pres">
      <dgm:prSet presAssocID="{03D9093E-074C-46A7-A9F8-1E19D178BB9A}" presName="rect1" presStyleLbl="alignAcc1" presStyleIdx="0" presStyleCnt="1" custLinFactNeighborX="0" custLinFactNeighborY="197"/>
      <dgm:spPr/>
    </dgm:pt>
    <dgm:pt modelId="{6DD77F4C-2A7C-42FE-B398-4BD808045804}" type="pres">
      <dgm:prSet presAssocID="{03D9093E-074C-46A7-A9F8-1E19D178BB9A}" presName="rect1ParTxNoCh" presStyleLbl="alignAcc1" presStyleIdx="0" presStyleCnt="1">
        <dgm:presLayoutVars>
          <dgm:chMax val="1"/>
          <dgm:bulletEnabled val="1"/>
        </dgm:presLayoutVars>
      </dgm:prSet>
      <dgm:spPr/>
    </dgm:pt>
  </dgm:ptLst>
  <dgm:cxnLst>
    <dgm:cxn modelId="{D3A1AD65-898C-42F8-A7F1-09A2EAD86E67}" type="presOf" srcId="{03D9093E-074C-46A7-A9F8-1E19D178BB9A}" destId="{6DD77F4C-2A7C-42FE-B398-4BD808045804}" srcOrd="1" destOrd="0" presId="urn:microsoft.com/office/officeart/2005/8/layout/target3"/>
    <dgm:cxn modelId="{348A3267-365E-4F3D-B471-EE83747442EB}" type="presOf" srcId="{03D9093E-074C-46A7-A9F8-1E19D178BB9A}" destId="{7CCA3831-9A73-4694-A945-002CD63DE8F7}" srcOrd="0" destOrd="0" presId="urn:microsoft.com/office/officeart/2005/8/layout/target3"/>
    <dgm:cxn modelId="{332861C7-6799-497B-8ED0-3FE713492E34}" srcId="{70D26318-2846-407F-ADC3-E8223E4AE18C}" destId="{03D9093E-074C-46A7-A9F8-1E19D178BB9A}" srcOrd="0" destOrd="0" parTransId="{B725E9B4-FADE-4A42-BEF3-DC39942670AF}" sibTransId="{3B34E359-A3C6-4136-A684-6231C74C450F}"/>
    <dgm:cxn modelId="{84B357EB-1FF6-4C81-BB40-6E319CCBBD90}" type="presOf" srcId="{70D26318-2846-407F-ADC3-E8223E4AE18C}" destId="{DD717164-0F24-4329-BB2D-26C2B74B2418}" srcOrd="0" destOrd="0" presId="urn:microsoft.com/office/officeart/2005/8/layout/target3"/>
    <dgm:cxn modelId="{D3FCB664-3D03-45CD-96E7-FA45ACB17387}" type="presParOf" srcId="{DD717164-0F24-4329-BB2D-26C2B74B2418}" destId="{B7B30E8D-244E-41BE-8154-0A8CCD949FA3}" srcOrd="0" destOrd="0" presId="urn:microsoft.com/office/officeart/2005/8/layout/target3"/>
    <dgm:cxn modelId="{81641129-BB4D-4285-8470-A1D0CB44393D}" type="presParOf" srcId="{DD717164-0F24-4329-BB2D-26C2B74B2418}" destId="{A08A6953-3060-46A5-8DE4-3E3024EE7D17}" srcOrd="1" destOrd="0" presId="urn:microsoft.com/office/officeart/2005/8/layout/target3"/>
    <dgm:cxn modelId="{02FEF69C-799E-4E34-96B0-E4DDB4062BD0}" type="presParOf" srcId="{DD717164-0F24-4329-BB2D-26C2B74B2418}" destId="{7CCA3831-9A73-4694-A945-002CD63DE8F7}" srcOrd="2" destOrd="0" presId="urn:microsoft.com/office/officeart/2005/8/layout/target3"/>
    <dgm:cxn modelId="{2DBC4448-FFDB-4DF2-BADB-BC462F94C897}" type="presParOf" srcId="{DD717164-0F24-4329-BB2D-26C2B74B2418}" destId="{6DD77F4C-2A7C-42FE-B398-4BD808045804}" srcOrd="3" destOrd="0" presId="urn:microsoft.com/office/officeart/2005/8/layout/targe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AEA42B-3E12-46F0-A2D4-E710B0FEBD7A}"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IN"/>
        </a:p>
      </dgm:t>
    </dgm:pt>
    <dgm:pt modelId="{CE45F6BC-A618-4B99-AE75-9723ACDAE04C}">
      <dgm:prSet/>
      <dgm:spPr/>
      <dgm:t>
        <a:bodyPr/>
        <a:lstStyle/>
        <a:p>
          <a:r>
            <a:rPr lang="en-US" dirty="0"/>
            <a:t>Retail businesses face challenges in managing inventory efficiently, leading to overstocking, understocking, and dead stock. This problem affects profitability and operational efficiency. Existing methods lack proper data analysis and visualization. This project focuses on identifying product performance and risk levels using data-driven techniques to improve decision-making.</a:t>
          </a:r>
          <a:endParaRPr lang="en-IN" dirty="0"/>
        </a:p>
      </dgm:t>
    </dgm:pt>
    <dgm:pt modelId="{89C66C88-1FF0-413E-98C6-BB2A5DAAFE6B}" type="parTrans" cxnId="{5235EBFD-A7E2-4DBB-89EA-FC31EF2103F9}">
      <dgm:prSet/>
      <dgm:spPr/>
      <dgm:t>
        <a:bodyPr/>
        <a:lstStyle/>
        <a:p>
          <a:endParaRPr lang="en-IN"/>
        </a:p>
      </dgm:t>
    </dgm:pt>
    <dgm:pt modelId="{EDC1940C-1412-4D7B-A0A5-BA3D9AE59D75}" type="sibTrans" cxnId="{5235EBFD-A7E2-4DBB-89EA-FC31EF2103F9}">
      <dgm:prSet/>
      <dgm:spPr/>
      <dgm:t>
        <a:bodyPr/>
        <a:lstStyle/>
        <a:p>
          <a:endParaRPr lang="en-IN"/>
        </a:p>
      </dgm:t>
    </dgm:pt>
    <dgm:pt modelId="{A425CFCC-03AC-48DB-B54C-810461B36052}" type="pres">
      <dgm:prSet presAssocID="{F7AEA42B-3E12-46F0-A2D4-E710B0FEBD7A}" presName="Name0" presStyleCnt="0">
        <dgm:presLayoutVars>
          <dgm:chMax val="7"/>
          <dgm:dir/>
          <dgm:animLvl val="lvl"/>
          <dgm:resizeHandles val="exact"/>
        </dgm:presLayoutVars>
      </dgm:prSet>
      <dgm:spPr/>
    </dgm:pt>
    <dgm:pt modelId="{1F50B763-13AD-4430-8459-76C1DA5FF9B3}" type="pres">
      <dgm:prSet presAssocID="{CE45F6BC-A618-4B99-AE75-9723ACDAE04C}" presName="circle1" presStyleLbl="node1" presStyleIdx="0" presStyleCnt="1"/>
      <dgm:spPr/>
    </dgm:pt>
    <dgm:pt modelId="{B4A5891C-8379-4CC6-B160-E1043EE69D95}" type="pres">
      <dgm:prSet presAssocID="{CE45F6BC-A618-4B99-AE75-9723ACDAE04C}" presName="space" presStyleCnt="0"/>
      <dgm:spPr/>
    </dgm:pt>
    <dgm:pt modelId="{B444D8F7-43DB-44EC-9D2A-761D2746A122}" type="pres">
      <dgm:prSet presAssocID="{CE45F6BC-A618-4B99-AE75-9723ACDAE04C}" presName="rect1" presStyleLbl="alignAcc1" presStyleIdx="0" presStyleCnt="1"/>
      <dgm:spPr/>
    </dgm:pt>
    <dgm:pt modelId="{5FCEC21E-3197-40F1-962E-8E2B1822DB4C}" type="pres">
      <dgm:prSet presAssocID="{CE45F6BC-A618-4B99-AE75-9723ACDAE04C}" presName="rect1ParTxNoCh" presStyleLbl="alignAcc1" presStyleIdx="0" presStyleCnt="1">
        <dgm:presLayoutVars>
          <dgm:chMax val="1"/>
          <dgm:bulletEnabled val="1"/>
        </dgm:presLayoutVars>
      </dgm:prSet>
      <dgm:spPr/>
    </dgm:pt>
  </dgm:ptLst>
  <dgm:cxnLst>
    <dgm:cxn modelId="{30EC88A3-EE8A-466A-86FF-8E2937EBA38D}" type="presOf" srcId="{F7AEA42B-3E12-46F0-A2D4-E710B0FEBD7A}" destId="{A425CFCC-03AC-48DB-B54C-810461B36052}" srcOrd="0" destOrd="0" presId="urn:microsoft.com/office/officeart/2005/8/layout/target3"/>
    <dgm:cxn modelId="{90F462E1-3CD4-4145-B3A8-809C058587F1}" type="presOf" srcId="{CE45F6BC-A618-4B99-AE75-9723ACDAE04C}" destId="{B444D8F7-43DB-44EC-9D2A-761D2746A122}" srcOrd="0" destOrd="0" presId="urn:microsoft.com/office/officeart/2005/8/layout/target3"/>
    <dgm:cxn modelId="{3844B1E8-10E8-4671-9B27-2319F58B76D3}" type="presOf" srcId="{CE45F6BC-A618-4B99-AE75-9723ACDAE04C}" destId="{5FCEC21E-3197-40F1-962E-8E2B1822DB4C}" srcOrd="1" destOrd="0" presId="urn:microsoft.com/office/officeart/2005/8/layout/target3"/>
    <dgm:cxn modelId="{5235EBFD-A7E2-4DBB-89EA-FC31EF2103F9}" srcId="{F7AEA42B-3E12-46F0-A2D4-E710B0FEBD7A}" destId="{CE45F6BC-A618-4B99-AE75-9723ACDAE04C}" srcOrd="0" destOrd="0" parTransId="{89C66C88-1FF0-413E-98C6-BB2A5DAAFE6B}" sibTransId="{EDC1940C-1412-4D7B-A0A5-BA3D9AE59D75}"/>
    <dgm:cxn modelId="{5807D0A7-F6D7-49CF-9CF1-C04973803945}" type="presParOf" srcId="{A425CFCC-03AC-48DB-B54C-810461B36052}" destId="{1F50B763-13AD-4430-8459-76C1DA5FF9B3}" srcOrd="0" destOrd="0" presId="urn:microsoft.com/office/officeart/2005/8/layout/target3"/>
    <dgm:cxn modelId="{925A9030-6B43-4E71-B472-4A328E6274F0}" type="presParOf" srcId="{A425CFCC-03AC-48DB-B54C-810461B36052}" destId="{B4A5891C-8379-4CC6-B160-E1043EE69D95}" srcOrd="1" destOrd="0" presId="urn:microsoft.com/office/officeart/2005/8/layout/target3"/>
    <dgm:cxn modelId="{3F01680A-218F-44BC-9FA3-2866A3410DF6}" type="presParOf" srcId="{A425CFCC-03AC-48DB-B54C-810461B36052}" destId="{B444D8F7-43DB-44EC-9D2A-761D2746A122}" srcOrd="2" destOrd="0" presId="urn:microsoft.com/office/officeart/2005/8/layout/target3"/>
    <dgm:cxn modelId="{CAC5452D-F2D2-4CAD-AA94-D93D04F063A9}" type="presParOf" srcId="{A425CFCC-03AC-48DB-B54C-810461B36052}" destId="{5FCEC21E-3197-40F1-962E-8E2B1822DB4C}" srcOrd="3" destOrd="0" presId="urn:microsoft.com/office/officeart/2005/8/layout/targe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D587AFB-632E-4F5F-880B-B685C2A8C272}" type="doc">
      <dgm:prSet loTypeId="urn:microsoft.com/office/officeart/2005/8/layout/lProcess3" loCatId="process" qsTypeId="urn:microsoft.com/office/officeart/2005/8/quickstyle/simple1" qsCatId="simple" csTypeId="urn:microsoft.com/office/officeart/2005/8/colors/accent1_2" csCatId="accent1"/>
      <dgm:spPr/>
      <dgm:t>
        <a:bodyPr/>
        <a:lstStyle/>
        <a:p>
          <a:endParaRPr lang="en-IN"/>
        </a:p>
      </dgm:t>
    </dgm:pt>
    <dgm:pt modelId="{F497417F-3A4A-4701-A4B1-6B3DAB8AC82F}">
      <dgm:prSet/>
      <dgm:spPr/>
      <dgm:t>
        <a:bodyPr/>
        <a:lstStyle/>
        <a:p>
          <a:r>
            <a:rPr lang="en-US"/>
            <a:t>The proposed solution uses data analytics to evaluate product performance based on turnover ratio and sales trends. The dataset is cleaned and processed in Excel, and risk levels are assigned to products. Interactive dashboards are created in Microsoft Power BI to visualize insights. This solution helps identify slow-moving and high-risk products, enabling better inventory management.</a:t>
          </a:r>
          <a:endParaRPr lang="en-IN"/>
        </a:p>
      </dgm:t>
    </dgm:pt>
    <dgm:pt modelId="{FE2E0BED-29AB-471D-B48E-50F031114787}" type="parTrans" cxnId="{9D2C29F9-D1B1-48C0-A7A4-0ECCCF5391C8}">
      <dgm:prSet/>
      <dgm:spPr/>
      <dgm:t>
        <a:bodyPr/>
        <a:lstStyle/>
        <a:p>
          <a:endParaRPr lang="en-IN"/>
        </a:p>
      </dgm:t>
    </dgm:pt>
    <dgm:pt modelId="{FE524F0C-265F-4AC6-8319-C183FB3FD8E6}" type="sibTrans" cxnId="{9D2C29F9-D1B1-48C0-A7A4-0ECCCF5391C8}">
      <dgm:prSet/>
      <dgm:spPr/>
      <dgm:t>
        <a:bodyPr/>
        <a:lstStyle/>
        <a:p>
          <a:endParaRPr lang="en-IN"/>
        </a:p>
      </dgm:t>
    </dgm:pt>
    <dgm:pt modelId="{BF8D0509-BFF3-47C7-B3B9-7D9C356A954D}" type="pres">
      <dgm:prSet presAssocID="{FD587AFB-632E-4F5F-880B-B685C2A8C272}" presName="Name0" presStyleCnt="0">
        <dgm:presLayoutVars>
          <dgm:chPref val="3"/>
          <dgm:dir/>
          <dgm:animLvl val="lvl"/>
          <dgm:resizeHandles/>
        </dgm:presLayoutVars>
      </dgm:prSet>
      <dgm:spPr/>
    </dgm:pt>
    <dgm:pt modelId="{817A3CF6-8FB9-4096-8C4C-C246F5E911AA}" type="pres">
      <dgm:prSet presAssocID="{F497417F-3A4A-4701-A4B1-6B3DAB8AC82F}" presName="horFlow" presStyleCnt="0"/>
      <dgm:spPr/>
    </dgm:pt>
    <dgm:pt modelId="{4525CBE1-AFB6-435D-BD4F-0F0856BAA16F}" type="pres">
      <dgm:prSet presAssocID="{F497417F-3A4A-4701-A4B1-6B3DAB8AC82F}" presName="bigChev" presStyleLbl="node1" presStyleIdx="0" presStyleCnt="1"/>
      <dgm:spPr/>
    </dgm:pt>
  </dgm:ptLst>
  <dgm:cxnLst>
    <dgm:cxn modelId="{2AD8800A-578E-48F0-9038-7769E062DBDE}" type="presOf" srcId="{FD587AFB-632E-4F5F-880B-B685C2A8C272}" destId="{BF8D0509-BFF3-47C7-B3B9-7D9C356A954D}" srcOrd="0" destOrd="0" presId="urn:microsoft.com/office/officeart/2005/8/layout/lProcess3"/>
    <dgm:cxn modelId="{9775FDE4-9E8C-4232-A07E-B972501B2854}" type="presOf" srcId="{F497417F-3A4A-4701-A4B1-6B3DAB8AC82F}" destId="{4525CBE1-AFB6-435D-BD4F-0F0856BAA16F}" srcOrd="0" destOrd="0" presId="urn:microsoft.com/office/officeart/2005/8/layout/lProcess3"/>
    <dgm:cxn modelId="{9D2C29F9-D1B1-48C0-A7A4-0ECCCF5391C8}" srcId="{FD587AFB-632E-4F5F-880B-B685C2A8C272}" destId="{F497417F-3A4A-4701-A4B1-6B3DAB8AC82F}" srcOrd="0" destOrd="0" parTransId="{FE2E0BED-29AB-471D-B48E-50F031114787}" sibTransId="{FE524F0C-265F-4AC6-8319-C183FB3FD8E6}"/>
    <dgm:cxn modelId="{022734A3-434F-456C-8D15-7D4FE61875EA}" type="presParOf" srcId="{BF8D0509-BFF3-47C7-B3B9-7D9C356A954D}" destId="{817A3CF6-8FB9-4096-8C4C-C246F5E911AA}" srcOrd="0" destOrd="0" presId="urn:microsoft.com/office/officeart/2005/8/layout/lProcess3"/>
    <dgm:cxn modelId="{D81F5881-75AF-4C9E-A723-F932AD08AF6D}" type="presParOf" srcId="{817A3CF6-8FB9-4096-8C4C-C246F5E911AA}" destId="{4525CBE1-AFB6-435D-BD4F-0F0856BAA16F}" srcOrd="0" destOrd="0" presId="urn:microsoft.com/office/officeart/2005/8/layout/lProcess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797FD74-C643-49B5-AD68-EE7036903E9A}"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n-IN"/>
        </a:p>
      </dgm:t>
    </dgm:pt>
    <dgm:pt modelId="{5F925B45-9248-4A78-A174-B983E9B1ACFC}">
      <dgm:prSet/>
      <dgm:spPr/>
      <dgm:t>
        <a:bodyPr/>
        <a:lstStyle/>
        <a:p>
          <a:r>
            <a:rPr lang="en-US" dirty="0"/>
            <a:t>This project successfully analyzes inventory data to identify high-risk and slow-moving products. The dashboards provide valuable insights for improving inventory management. The objectives of the project were achieved, and it demonstrates the importance of data analytics in business decision-making.</a:t>
          </a:r>
          <a:endParaRPr lang="en-IN" dirty="0"/>
        </a:p>
      </dgm:t>
    </dgm:pt>
    <dgm:pt modelId="{3952AE1B-524A-4015-A6BF-29D65BE91D90}" type="parTrans" cxnId="{402FFB4B-7458-4814-B71D-43EC199D21FD}">
      <dgm:prSet/>
      <dgm:spPr/>
      <dgm:t>
        <a:bodyPr/>
        <a:lstStyle/>
        <a:p>
          <a:endParaRPr lang="en-IN"/>
        </a:p>
      </dgm:t>
    </dgm:pt>
    <dgm:pt modelId="{EBABEC2E-D557-4AD2-9B34-1CE53CB42B5B}" type="sibTrans" cxnId="{402FFB4B-7458-4814-B71D-43EC199D21FD}">
      <dgm:prSet/>
      <dgm:spPr/>
      <dgm:t>
        <a:bodyPr/>
        <a:lstStyle/>
        <a:p>
          <a:endParaRPr lang="en-IN"/>
        </a:p>
      </dgm:t>
    </dgm:pt>
    <dgm:pt modelId="{707F6AE6-9101-4328-91B8-9B7D210A6DA5}" type="pres">
      <dgm:prSet presAssocID="{1797FD74-C643-49B5-AD68-EE7036903E9A}" presName="Name0" presStyleCnt="0">
        <dgm:presLayoutVars>
          <dgm:chPref val="3"/>
          <dgm:dir/>
          <dgm:animLvl val="lvl"/>
          <dgm:resizeHandles/>
        </dgm:presLayoutVars>
      </dgm:prSet>
      <dgm:spPr/>
    </dgm:pt>
    <dgm:pt modelId="{062D27E9-5D20-469B-AFBC-415F74D129EF}" type="pres">
      <dgm:prSet presAssocID="{5F925B45-9248-4A78-A174-B983E9B1ACFC}" presName="horFlow" presStyleCnt="0"/>
      <dgm:spPr/>
    </dgm:pt>
    <dgm:pt modelId="{F2A51E17-C0D8-4B20-9978-09124C6AB6D9}" type="pres">
      <dgm:prSet presAssocID="{5F925B45-9248-4A78-A174-B983E9B1ACFC}" presName="bigChev" presStyleLbl="node1" presStyleIdx="0" presStyleCnt="1" custScaleY="111074" custLinFactNeighborX="106" custLinFactNeighborY="968"/>
      <dgm:spPr/>
    </dgm:pt>
  </dgm:ptLst>
  <dgm:cxnLst>
    <dgm:cxn modelId="{402FFB4B-7458-4814-B71D-43EC199D21FD}" srcId="{1797FD74-C643-49B5-AD68-EE7036903E9A}" destId="{5F925B45-9248-4A78-A174-B983E9B1ACFC}" srcOrd="0" destOrd="0" parTransId="{3952AE1B-524A-4015-A6BF-29D65BE91D90}" sibTransId="{EBABEC2E-D557-4AD2-9B34-1CE53CB42B5B}"/>
    <dgm:cxn modelId="{B272DE7C-C1FB-4FBF-BE4B-A3D183BCE041}" type="presOf" srcId="{5F925B45-9248-4A78-A174-B983E9B1ACFC}" destId="{F2A51E17-C0D8-4B20-9978-09124C6AB6D9}" srcOrd="0" destOrd="0" presId="urn:microsoft.com/office/officeart/2005/8/layout/lProcess3"/>
    <dgm:cxn modelId="{651C70F8-4BD3-40B9-9535-B2B4C80EF726}" type="presOf" srcId="{1797FD74-C643-49B5-AD68-EE7036903E9A}" destId="{707F6AE6-9101-4328-91B8-9B7D210A6DA5}" srcOrd="0" destOrd="0" presId="urn:microsoft.com/office/officeart/2005/8/layout/lProcess3"/>
    <dgm:cxn modelId="{011D71C3-E9E6-435C-A92B-B4B62851A93A}" type="presParOf" srcId="{707F6AE6-9101-4328-91B8-9B7D210A6DA5}" destId="{062D27E9-5D20-469B-AFBC-415F74D129EF}" srcOrd="0" destOrd="0" presId="urn:microsoft.com/office/officeart/2005/8/layout/lProcess3"/>
    <dgm:cxn modelId="{CF434021-3B8F-4B69-900B-75AA6498A2BD}" type="presParOf" srcId="{062D27E9-5D20-469B-AFBC-415F74D129EF}" destId="{F2A51E17-C0D8-4B20-9978-09124C6AB6D9}" srcOrd="0" destOrd="0" presId="urn:microsoft.com/office/officeart/2005/8/layout/lProcess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7F9F4EC-58CB-4B18-8107-9FF82671AE86}" type="doc">
      <dgm:prSet loTypeId="urn:microsoft.com/office/officeart/2005/8/layout/hProcess9" loCatId="process" qsTypeId="urn:microsoft.com/office/officeart/2005/8/quickstyle/simple1" qsCatId="simple" csTypeId="urn:microsoft.com/office/officeart/2005/8/colors/accent1_2" csCatId="accent1"/>
      <dgm:spPr/>
      <dgm:t>
        <a:bodyPr/>
        <a:lstStyle/>
        <a:p>
          <a:endParaRPr lang="en-IN"/>
        </a:p>
      </dgm:t>
    </dgm:pt>
    <dgm:pt modelId="{8B1AB666-98B6-4374-B1FE-CC91E7B55EC8}">
      <dgm:prSet/>
      <dgm:spPr/>
      <dgm:t>
        <a:bodyPr/>
        <a:lstStyle/>
        <a:p>
          <a:r>
            <a:rPr lang="en-US"/>
            <a:t>Future improvements include real-time data integration, AI-based demand prediction, and automated inventory recommendations. The system can be expanded to include more advanced analytics and integration with business systems.</a:t>
          </a:r>
          <a:endParaRPr lang="en-IN"/>
        </a:p>
      </dgm:t>
    </dgm:pt>
    <dgm:pt modelId="{620FABF8-F576-403B-9E9A-CA791852DB44}" type="parTrans" cxnId="{69584D46-F089-42EE-BA5D-210B526FBE67}">
      <dgm:prSet/>
      <dgm:spPr/>
      <dgm:t>
        <a:bodyPr/>
        <a:lstStyle/>
        <a:p>
          <a:endParaRPr lang="en-IN"/>
        </a:p>
      </dgm:t>
    </dgm:pt>
    <dgm:pt modelId="{B3FE2B6D-1D7D-4A75-969F-964E92F28059}" type="sibTrans" cxnId="{69584D46-F089-42EE-BA5D-210B526FBE67}">
      <dgm:prSet/>
      <dgm:spPr/>
      <dgm:t>
        <a:bodyPr/>
        <a:lstStyle/>
        <a:p>
          <a:endParaRPr lang="en-IN"/>
        </a:p>
      </dgm:t>
    </dgm:pt>
    <dgm:pt modelId="{B6CD0534-E7F3-4ADB-A0EA-800E08BFC3D4}" type="pres">
      <dgm:prSet presAssocID="{37F9F4EC-58CB-4B18-8107-9FF82671AE86}" presName="CompostProcess" presStyleCnt="0">
        <dgm:presLayoutVars>
          <dgm:dir/>
          <dgm:resizeHandles val="exact"/>
        </dgm:presLayoutVars>
      </dgm:prSet>
      <dgm:spPr/>
    </dgm:pt>
    <dgm:pt modelId="{5906CE13-FC44-4FE7-B359-923578412A2D}" type="pres">
      <dgm:prSet presAssocID="{37F9F4EC-58CB-4B18-8107-9FF82671AE86}" presName="arrow" presStyleLbl="bgShp" presStyleIdx="0" presStyleCnt="1"/>
      <dgm:spPr/>
    </dgm:pt>
    <dgm:pt modelId="{651AA69D-2846-40BC-A8B2-6417BF6197E4}" type="pres">
      <dgm:prSet presAssocID="{37F9F4EC-58CB-4B18-8107-9FF82671AE86}" presName="linearProcess" presStyleCnt="0"/>
      <dgm:spPr/>
    </dgm:pt>
    <dgm:pt modelId="{F7DDEA21-E4C1-4F19-8924-848716BA4BF8}" type="pres">
      <dgm:prSet presAssocID="{8B1AB666-98B6-4374-B1FE-CC91E7B55EC8}" presName="textNode" presStyleLbl="node1" presStyleIdx="0" presStyleCnt="1">
        <dgm:presLayoutVars>
          <dgm:bulletEnabled val="1"/>
        </dgm:presLayoutVars>
      </dgm:prSet>
      <dgm:spPr/>
    </dgm:pt>
  </dgm:ptLst>
  <dgm:cxnLst>
    <dgm:cxn modelId="{E8427F39-2065-45A3-B6C3-8132A19407BD}" type="presOf" srcId="{8B1AB666-98B6-4374-B1FE-CC91E7B55EC8}" destId="{F7DDEA21-E4C1-4F19-8924-848716BA4BF8}" srcOrd="0" destOrd="0" presId="urn:microsoft.com/office/officeart/2005/8/layout/hProcess9"/>
    <dgm:cxn modelId="{69584D46-F089-42EE-BA5D-210B526FBE67}" srcId="{37F9F4EC-58CB-4B18-8107-9FF82671AE86}" destId="{8B1AB666-98B6-4374-B1FE-CC91E7B55EC8}" srcOrd="0" destOrd="0" parTransId="{620FABF8-F576-403B-9E9A-CA791852DB44}" sibTransId="{B3FE2B6D-1D7D-4A75-969F-964E92F28059}"/>
    <dgm:cxn modelId="{B759ADD9-C01B-4AA1-BA05-4A1664AED639}" type="presOf" srcId="{37F9F4EC-58CB-4B18-8107-9FF82671AE86}" destId="{B6CD0534-E7F3-4ADB-A0EA-800E08BFC3D4}" srcOrd="0" destOrd="0" presId="urn:microsoft.com/office/officeart/2005/8/layout/hProcess9"/>
    <dgm:cxn modelId="{F4F943EC-147E-4EE9-8106-84E7AB89B94B}" type="presParOf" srcId="{B6CD0534-E7F3-4ADB-A0EA-800E08BFC3D4}" destId="{5906CE13-FC44-4FE7-B359-923578412A2D}" srcOrd="0" destOrd="0" presId="urn:microsoft.com/office/officeart/2005/8/layout/hProcess9"/>
    <dgm:cxn modelId="{C6060158-6972-4EEC-8188-45E639E81878}" type="presParOf" srcId="{B6CD0534-E7F3-4ADB-A0EA-800E08BFC3D4}" destId="{651AA69D-2846-40BC-A8B2-6417BF6197E4}" srcOrd="1" destOrd="0" presId="urn:microsoft.com/office/officeart/2005/8/layout/hProcess9"/>
    <dgm:cxn modelId="{1701F2CA-DE92-4C94-BE41-20225C54F8C0}" type="presParOf" srcId="{651AA69D-2846-40BC-A8B2-6417BF6197E4}" destId="{F7DDEA21-E4C1-4F19-8924-848716BA4BF8}" srcOrd="0" destOrd="0" presId="urn:microsoft.com/office/officeart/2005/8/layout/hProcess9"/>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F5EEE1-D163-431D-846E-550116A316FD}">
      <dsp:nvSpPr>
        <dsp:cNvPr id="0" name=""/>
        <dsp:cNvSpPr/>
      </dsp:nvSpPr>
      <dsp:spPr>
        <a:xfrm>
          <a:off x="0" y="28955"/>
          <a:ext cx="4446761"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Abstract of the Project</a:t>
          </a:r>
          <a:endParaRPr lang="en-IN" sz="1400" kern="1200"/>
        </a:p>
      </dsp:txBody>
      <dsp:txXfrm>
        <a:off x="16392" y="45347"/>
        <a:ext cx="4413977" cy="303006"/>
      </dsp:txXfrm>
    </dsp:sp>
    <dsp:sp modelId="{442FD273-630D-40BD-B6FF-F7549DC2418E}">
      <dsp:nvSpPr>
        <dsp:cNvPr id="0" name=""/>
        <dsp:cNvSpPr/>
      </dsp:nvSpPr>
      <dsp:spPr>
        <a:xfrm>
          <a:off x="0" y="405065"/>
          <a:ext cx="4446761"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Problem Statement</a:t>
          </a:r>
          <a:endParaRPr lang="en-IN" sz="1400" kern="1200"/>
        </a:p>
      </dsp:txBody>
      <dsp:txXfrm>
        <a:off x="16392" y="421457"/>
        <a:ext cx="4413977" cy="303006"/>
      </dsp:txXfrm>
    </dsp:sp>
    <dsp:sp modelId="{43548909-4190-45C4-A860-A43DEF740527}">
      <dsp:nvSpPr>
        <dsp:cNvPr id="0" name=""/>
        <dsp:cNvSpPr/>
      </dsp:nvSpPr>
      <dsp:spPr>
        <a:xfrm>
          <a:off x="0" y="781175"/>
          <a:ext cx="4446761"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Proposed Solution</a:t>
          </a:r>
          <a:endParaRPr lang="en-IN" sz="1400" kern="1200"/>
        </a:p>
      </dsp:txBody>
      <dsp:txXfrm>
        <a:off x="16392" y="797567"/>
        <a:ext cx="4413977" cy="303006"/>
      </dsp:txXfrm>
    </dsp:sp>
    <dsp:sp modelId="{81FB44B3-A41F-4C53-909D-9699C1DAFED3}">
      <dsp:nvSpPr>
        <dsp:cNvPr id="0" name=""/>
        <dsp:cNvSpPr/>
      </dsp:nvSpPr>
      <dsp:spPr>
        <a:xfrm>
          <a:off x="0" y="1157285"/>
          <a:ext cx="4446761"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System Architecture</a:t>
          </a:r>
          <a:endParaRPr lang="en-IN" sz="1400" kern="1200"/>
        </a:p>
      </dsp:txBody>
      <dsp:txXfrm>
        <a:off x="16392" y="1173677"/>
        <a:ext cx="4413977" cy="303006"/>
      </dsp:txXfrm>
    </dsp:sp>
    <dsp:sp modelId="{0EBDD477-9270-42C8-A5C3-B365B01AE226}">
      <dsp:nvSpPr>
        <dsp:cNvPr id="0" name=""/>
        <dsp:cNvSpPr/>
      </dsp:nvSpPr>
      <dsp:spPr>
        <a:xfrm>
          <a:off x="0" y="1533395"/>
          <a:ext cx="4446761"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Live Demo of the Project</a:t>
          </a:r>
          <a:endParaRPr lang="en-IN" sz="1400" kern="1200"/>
        </a:p>
      </dsp:txBody>
      <dsp:txXfrm>
        <a:off x="16392" y="1549787"/>
        <a:ext cx="4413977" cy="303006"/>
      </dsp:txXfrm>
    </dsp:sp>
    <dsp:sp modelId="{0ABF140C-CDCF-4969-87AE-4EC29322555B}">
      <dsp:nvSpPr>
        <dsp:cNvPr id="0" name=""/>
        <dsp:cNvSpPr/>
      </dsp:nvSpPr>
      <dsp:spPr>
        <a:xfrm>
          <a:off x="0" y="1909505"/>
          <a:ext cx="4446761"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Embedded Video of Project</a:t>
          </a:r>
          <a:endParaRPr lang="en-IN" sz="1400" kern="1200"/>
        </a:p>
      </dsp:txBody>
      <dsp:txXfrm>
        <a:off x="16392" y="1925897"/>
        <a:ext cx="4413977" cy="303006"/>
      </dsp:txXfrm>
    </dsp:sp>
    <dsp:sp modelId="{27984C79-1EA5-4486-BB14-EF6037403848}">
      <dsp:nvSpPr>
        <dsp:cNvPr id="0" name=""/>
        <dsp:cNvSpPr/>
      </dsp:nvSpPr>
      <dsp:spPr>
        <a:xfrm>
          <a:off x="0" y="2285615"/>
          <a:ext cx="4446761"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a:t>Conclusion</a:t>
          </a:r>
        </a:p>
      </dsp:txBody>
      <dsp:txXfrm>
        <a:off x="16392" y="2302007"/>
        <a:ext cx="4413977" cy="303006"/>
      </dsp:txXfrm>
    </dsp:sp>
    <dsp:sp modelId="{A0F649D3-1AFE-49CF-936B-83C2DDD665ED}">
      <dsp:nvSpPr>
        <dsp:cNvPr id="0" name=""/>
        <dsp:cNvSpPr/>
      </dsp:nvSpPr>
      <dsp:spPr>
        <a:xfrm>
          <a:off x="0" y="2661725"/>
          <a:ext cx="4446761"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Future Scope</a:t>
          </a:r>
          <a:endParaRPr lang="en-IN" sz="1400" kern="1200"/>
        </a:p>
      </dsp:txBody>
      <dsp:txXfrm>
        <a:off x="16392" y="2678117"/>
        <a:ext cx="4413977" cy="3030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B30E8D-244E-41BE-8154-0A8CCD949FA3}">
      <dsp:nvSpPr>
        <dsp:cNvPr id="0" name=""/>
        <dsp:cNvSpPr/>
      </dsp:nvSpPr>
      <dsp:spPr>
        <a:xfrm>
          <a:off x="0" y="68956"/>
          <a:ext cx="3001407" cy="3001407"/>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CA3831-9A73-4694-A945-002CD63DE8F7}">
      <dsp:nvSpPr>
        <dsp:cNvPr id="0" name=""/>
        <dsp:cNvSpPr/>
      </dsp:nvSpPr>
      <dsp:spPr>
        <a:xfrm>
          <a:off x="1500703" y="74869"/>
          <a:ext cx="3501642" cy="300140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This project focuses on inventory analysis using data analytics techniques to improve stock management. The objective is to identify high-risk and slow-moving products using turnover ratio and sales data. Tools like Excel and Microsoft Power BI were used for data cleaning, analysis, and visualization. The project provides interactive dashboards that help businesses make better inventory decisions. The expected outcome is improved stock optimization and reduced losses due to unsold products.</a:t>
          </a:r>
          <a:endParaRPr lang="en-IN" sz="1500" kern="1200" dirty="0"/>
        </a:p>
      </dsp:txBody>
      <dsp:txXfrm>
        <a:off x="1500703" y="74869"/>
        <a:ext cx="3501642" cy="30014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50B763-13AD-4430-8459-76C1DA5FF9B3}">
      <dsp:nvSpPr>
        <dsp:cNvPr id="0" name=""/>
        <dsp:cNvSpPr/>
      </dsp:nvSpPr>
      <dsp:spPr>
        <a:xfrm>
          <a:off x="0" y="0"/>
          <a:ext cx="2585323" cy="258532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44D8F7-43DB-44EC-9D2A-761D2746A122}">
      <dsp:nvSpPr>
        <dsp:cNvPr id="0" name=""/>
        <dsp:cNvSpPr/>
      </dsp:nvSpPr>
      <dsp:spPr>
        <a:xfrm>
          <a:off x="1292661" y="0"/>
          <a:ext cx="3470248" cy="258532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Retail businesses face challenges in managing inventory efficiently, leading to overstocking, understocking, and dead stock. This problem affects profitability and operational efficiency. Existing methods lack proper data analysis and visualization. This project focuses on identifying product performance and risk levels using data-driven techniques to improve decision-making.</a:t>
          </a:r>
          <a:endParaRPr lang="en-IN" sz="1600" kern="1200" dirty="0"/>
        </a:p>
      </dsp:txBody>
      <dsp:txXfrm>
        <a:off x="1292661" y="0"/>
        <a:ext cx="3470248" cy="258532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25CBE1-AFB6-435D-BD4F-0F0856BAA16F}">
      <dsp:nvSpPr>
        <dsp:cNvPr id="0" name=""/>
        <dsp:cNvSpPr/>
      </dsp:nvSpPr>
      <dsp:spPr>
        <a:xfrm>
          <a:off x="0" y="378261"/>
          <a:ext cx="4572000" cy="1828800"/>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US" sz="1200" kern="1200"/>
            <a:t>The proposed solution uses data analytics to evaluate product performance based on turnover ratio and sales trends. The dataset is cleaned and processed in Excel, and risk levels are assigned to products. Interactive dashboards are created in Microsoft Power BI to visualize insights. This solution helps identify slow-moving and high-risk products, enabling better inventory management.</a:t>
          </a:r>
          <a:endParaRPr lang="en-IN" sz="1200" kern="1200"/>
        </a:p>
      </dsp:txBody>
      <dsp:txXfrm>
        <a:off x="914400" y="378261"/>
        <a:ext cx="2743200" cy="18288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A51E17-C0D8-4B20-9978-09124C6AB6D9}">
      <dsp:nvSpPr>
        <dsp:cNvPr id="0" name=""/>
        <dsp:cNvSpPr/>
      </dsp:nvSpPr>
      <dsp:spPr>
        <a:xfrm>
          <a:off x="0" y="3"/>
          <a:ext cx="4572000" cy="2031321"/>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lang="en-US" sz="1400" kern="1200" dirty="0"/>
            <a:t>This project successfully analyzes inventory data to identify high-risk and slow-moving products. The dashboards provide valuable insights for improving inventory management. The objectives of the project were achieved, and it demonstrates the importance of data analytics in business decision-making.</a:t>
          </a:r>
          <a:endParaRPr lang="en-IN" sz="1400" kern="1200" dirty="0"/>
        </a:p>
      </dsp:txBody>
      <dsp:txXfrm>
        <a:off x="1015661" y="3"/>
        <a:ext cx="2540679" cy="203132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06CE13-FC44-4FE7-B359-923578412A2D}">
      <dsp:nvSpPr>
        <dsp:cNvPr id="0" name=""/>
        <dsp:cNvSpPr/>
      </dsp:nvSpPr>
      <dsp:spPr>
        <a:xfrm>
          <a:off x="342899" y="0"/>
          <a:ext cx="3886200" cy="1754326"/>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DDEA21-E4C1-4F19-8924-848716BA4BF8}">
      <dsp:nvSpPr>
        <dsp:cNvPr id="0" name=""/>
        <dsp:cNvSpPr/>
      </dsp:nvSpPr>
      <dsp:spPr>
        <a:xfrm>
          <a:off x="0" y="526297"/>
          <a:ext cx="4572000" cy="70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Future improvements include real-time data integration, AI-based demand prediction, and automated inventory recommendations. The system can be expanded to include more advanced analytics and integration with business systems.</a:t>
          </a:r>
          <a:endParaRPr lang="en-IN" sz="1000" kern="1200"/>
        </a:p>
      </dsp:txBody>
      <dsp:txXfrm>
        <a:off x="34256" y="560553"/>
        <a:ext cx="4503488" cy="63321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2.xml"/><Relationship Id="rId7" Type="http://schemas.openxmlformats.org/officeDocument/2006/relationships/diagramColors" Target="../diagrams/colors1.xml"/><Relationship Id="rId2" Type="http://schemas.openxmlformats.org/officeDocument/2006/relationships/slideLayout" Target="../slideLayouts/slideLayout1.xml"/><Relationship Id="rId1" Type="http://schemas.openxmlformats.org/officeDocument/2006/relationships/tags" Target="../tags/tag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3.xml"/><Relationship Id="rId7" Type="http://schemas.openxmlformats.org/officeDocument/2006/relationships/diagramColors" Target="../diagrams/colors2.xml"/><Relationship Id="rId2" Type="http://schemas.openxmlformats.org/officeDocument/2006/relationships/slideLayout" Target="../slideLayouts/slideLayout1.xml"/><Relationship Id="rId1" Type="http://schemas.openxmlformats.org/officeDocument/2006/relationships/tags" Target="../tags/tag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9.svg"/></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notesSlide" Target="../notesSlides/notesSlide4.xml"/><Relationship Id="rId7" Type="http://schemas.openxmlformats.org/officeDocument/2006/relationships/diagramQuickStyle" Target="../diagrams/quickStyle3.xml"/><Relationship Id="rId2" Type="http://schemas.openxmlformats.org/officeDocument/2006/relationships/slideLayout" Target="../slideLayouts/slideLayout1.xml"/><Relationship Id="rId1" Type="http://schemas.openxmlformats.org/officeDocument/2006/relationships/tags" Target="../tags/tag8.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10.png"/><Relationship Id="rId9" Type="http://schemas.microsoft.com/office/2007/relationships/diagramDrawing" Target="../diagrams/drawing3.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notesSlide" Target="../notesSlides/notesSlide5.xml"/><Relationship Id="rId7" Type="http://schemas.openxmlformats.org/officeDocument/2006/relationships/diagramQuickStyle" Target="../diagrams/quickStyle4.xml"/><Relationship Id="rId2" Type="http://schemas.openxmlformats.org/officeDocument/2006/relationships/slideLayout" Target="../slideLayouts/slideLayout1.xml"/><Relationship Id="rId1" Type="http://schemas.openxmlformats.org/officeDocument/2006/relationships/tags" Target="../tags/tag9.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11.png"/><Relationship Id="rId9" Type="http://schemas.microsoft.com/office/2007/relationships/diagramDrawing" Target="../diagrams/drawin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notesSlide" Target="../notesSlides/notesSlide9.xml"/><Relationship Id="rId7" Type="http://schemas.openxmlformats.org/officeDocument/2006/relationships/diagramQuickStyle" Target="../diagrams/quickStyle5.xml"/><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15.png"/><Relationship Id="rId9" Type="http://schemas.microsoft.com/office/2007/relationships/diagramDrawing" Target="../diagrams/drawing5.xml"/></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notesSlide" Target="../notesSlides/notesSlide10.xml"/><Relationship Id="rId7" Type="http://schemas.openxmlformats.org/officeDocument/2006/relationships/diagramQuickStyle" Target="../diagrams/quickStyle6.xml"/><Relationship Id="rId2" Type="http://schemas.openxmlformats.org/officeDocument/2006/relationships/slideLayout" Target="../slideLayouts/slideLayout1.xml"/><Relationship Id="rId1" Type="http://schemas.openxmlformats.org/officeDocument/2006/relationships/tags" Target="../tags/tag14.xml"/><Relationship Id="rId6" Type="http://schemas.openxmlformats.org/officeDocument/2006/relationships/diagramLayout" Target="../diagrams/layout6.xml"/><Relationship Id="rId5" Type="http://schemas.openxmlformats.org/officeDocument/2006/relationships/diagramData" Target="../diagrams/data6.xml"/><Relationship Id="rId4" Type="http://schemas.openxmlformats.org/officeDocument/2006/relationships/image" Target="../media/image16.png"/><Relationship Id="rId9" Type="http://schemas.microsoft.com/office/2007/relationships/diagramDrawing" Target="../diagrams/drawing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854979" y="3645023"/>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854979" y="3806607"/>
            <a:ext cx="1633432"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KRUPA SOLANKI</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429808" y="3639905"/>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176086" y="3642226"/>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176086" y="3803810"/>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krupa111666@gmail.com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2747249" y="3631981"/>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389019"/>
            <a:chOff x="3139699" y="4295282"/>
            <a:chExt cx="2272871" cy="38901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UMA MAHESWARI</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6"/>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7"/>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8"/>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9"/>
          <a:srcRect b="19729"/>
          <a:stretch>
            <a:fillRect/>
          </a:stretch>
        </p:blipFill>
        <p:spPr>
          <a:xfrm>
            <a:off x="173754" y="1046557"/>
            <a:ext cx="3854253" cy="1849530"/>
          </a:xfrm>
          <a:prstGeom prst="rect">
            <a:avLst/>
          </a:prstGeom>
        </p:spPr>
      </p:pic>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graphicFrame>
        <p:nvGraphicFramePr>
          <p:cNvPr id="2" name="Diagram 1">
            <a:extLst>
              <a:ext uri="{FF2B5EF4-FFF2-40B4-BE49-F238E27FC236}">
                <a16:creationId xmlns:a16="http://schemas.microsoft.com/office/drawing/2014/main" id="{427CAC82-028F-D2C4-46D7-CB1C720E771C}"/>
              </a:ext>
            </a:extLst>
          </p:cNvPr>
          <p:cNvGraphicFramePr/>
          <p:nvPr/>
        </p:nvGraphicFramePr>
        <p:xfrm>
          <a:off x="125239" y="1080603"/>
          <a:ext cx="4446761" cy="302647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9">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5240"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graphicFrame>
        <p:nvGraphicFramePr>
          <p:cNvPr id="3" name="Diagram 2">
            <a:extLst>
              <a:ext uri="{FF2B5EF4-FFF2-40B4-BE49-F238E27FC236}">
                <a16:creationId xmlns:a16="http://schemas.microsoft.com/office/drawing/2014/main" id="{DA279D70-F9EA-DC8E-E057-33303219EAC3}"/>
              </a:ext>
            </a:extLst>
          </p:cNvPr>
          <p:cNvGraphicFramePr/>
          <p:nvPr>
            <p:extLst>
              <p:ext uri="{D42A27DB-BD31-4B8C-83A1-F6EECF244321}">
                <p14:modId xmlns:p14="http://schemas.microsoft.com/office/powerpoint/2010/main" val="3707306721"/>
              </p:ext>
            </p:extLst>
          </p:nvPr>
        </p:nvGraphicFramePr>
        <p:xfrm>
          <a:off x="48549" y="1159493"/>
          <a:ext cx="5002346" cy="313932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graphicFrame>
        <p:nvGraphicFramePr>
          <p:cNvPr id="2" name="Diagram 1">
            <a:extLst>
              <a:ext uri="{FF2B5EF4-FFF2-40B4-BE49-F238E27FC236}">
                <a16:creationId xmlns:a16="http://schemas.microsoft.com/office/drawing/2014/main" id="{6E0679F4-FF0D-212A-FB35-C2981073D06D}"/>
              </a:ext>
            </a:extLst>
          </p:cNvPr>
          <p:cNvGraphicFramePr/>
          <p:nvPr>
            <p:extLst>
              <p:ext uri="{D42A27DB-BD31-4B8C-83A1-F6EECF244321}">
                <p14:modId xmlns:p14="http://schemas.microsoft.com/office/powerpoint/2010/main" val="3287917744"/>
              </p:ext>
            </p:extLst>
          </p:nvPr>
        </p:nvGraphicFramePr>
        <p:xfrm>
          <a:off x="78045" y="1439981"/>
          <a:ext cx="4762910" cy="258532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416154"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graphicFrame>
        <p:nvGraphicFramePr>
          <p:cNvPr id="6" name="Diagram 5">
            <a:extLst>
              <a:ext uri="{FF2B5EF4-FFF2-40B4-BE49-F238E27FC236}">
                <a16:creationId xmlns:a16="http://schemas.microsoft.com/office/drawing/2014/main" id="{ADFE4E32-43AE-C94C-E558-81B244004AAA}"/>
              </a:ext>
            </a:extLst>
          </p:cNvPr>
          <p:cNvGraphicFramePr/>
          <p:nvPr/>
        </p:nvGraphicFramePr>
        <p:xfrm>
          <a:off x="125486" y="1046013"/>
          <a:ext cx="4572000" cy="258532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3" name="TextBox 2">
            <a:extLst>
              <a:ext uri="{FF2B5EF4-FFF2-40B4-BE49-F238E27FC236}">
                <a16:creationId xmlns:a16="http://schemas.microsoft.com/office/drawing/2014/main" id="{720E9FEE-8B3C-7C17-F588-6394857C1A48}"/>
              </a:ext>
            </a:extLst>
          </p:cNvPr>
          <p:cNvSpPr txBox="1"/>
          <p:nvPr/>
        </p:nvSpPr>
        <p:spPr>
          <a:xfrm>
            <a:off x="130350" y="1599815"/>
            <a:ext cx="4572000" cy="1200329"/>
          </a:xfrm>
          <a:prstGeom prst="rect">
            <a:avLst/>
          </a:prstGeom>
          <a:noFill/>
        </p:spPr>
        <p:txBody>
          <a:bodyPr wrap="square">
            <a:spAutoFit/>
          </a:bodyPr>
          <a:lstStyle/>
          <a:p>
            <a:pPr>
              <a:buNone/>
            </a:pPr>
            <a:r>
              <a:rPr lang="en-US" dirty="0"/>
              <a:t>The dataset includes product details such as stock quantity, sales, price, supplier, and customer ratings. The data is created and managed in Excel.</a:t>
            </a:r>
          </a:p>
        </p:txBody>
      </p:sp>
      <p:sp>
        <p:nvSpPr>
          <p:cNvPr id="22" name="TextBox 21">
            <a:extLst>
              <a:ext uri="{FF2B5EF4-FFF2-40B4-BE49-F238E27FC236}">
                <a16:creationId xmlns:a16="http://schemas.microsoft.com/office/drawing/2014/main" id="{C29B09F9-D382-8261-176D-A785E2B8A78A}"/>
              </a:ext>
            </a:extLst>
          </p:cNvPr>
          <p:cNvSpPr txBox="1"/>
          <p:nvPr/>
        </p:nvSpPr>
        <p:spPr>
          <a:xfrm>
            <a:off x="4572000" y="1595191"/>
            <a:ext cx="4572000" cy="1200329"/>
          </a:xfrm>
          <a:prstGeom prst="rect">
            <a:avLst/>
          </a:prstGeom>
          <a:noFill/>
        </p:spPr>
        <p:txBody>
          <a:bodyPr wrap="square">
            <a:spAutoFit/>
          </a:bodyPr>
          <a:lstStyle/>
          <a:p>
            <a:r>
              <a:rPr lang="en-US" dirty="0"/>
              <a:t>Data cleaning, transformation, and calculation of turnover ratio are performed in Excel. Risk levels are categorized into high, medium, and low based on performance.</a:t>
            </a:r>
            <a:endParaRPr lang="en-IN" dirty="0"/>
          </a:p>
        </p:txBody>
      </p:sp>
      <p:sp>
        <p:nvSpPr>
          <p:cNvPr id="24" name="TextBox 23">
            <a:extLst>
              <a:ext uri="{FF2B5EF4-FFF2-40B4-BE49-F238E27FC236}">
                <a16:creationId xmlns:a16="http://schemas.microsoft.com/office/drawing/2014/main" id="{6A42C206-DD63-2D3E-CE23-3CAA9BB4D86A}"/>
              </a:ext>
            </a:extLst>
          </p:cNvPr>
          <p:cNvSpPr txBox="1"/>
          <p:nvPr/>
        </p:nvSpPr>
        <p:spPr>
          <a:xfrm>
            <a:off x="137502" y="3390480"/>
            <a:ext cx="4572000" cy="1200329"/>
          </a:xfrm>
          <a:prstGeom prst="rect">
            <a:avLst/>
          </a:prstGeom>
          <a:noFill/>
        </p:spPr>
        <p:txBody>
          <a:bodyPr wrap="square">
            <a:spAutoFit/>
          </a:bodyPr>
          <a:lstStyle/>
          <a:p>
            <a:r>
              <a:rPr lang="en-US" dirty="0"/>
              <a:t>Tools like Excel and Microsoft Power BI are used for analysis and visualization. Power BI provides interactive dashboards with charts, KPIs, and slicers.</a:t>
            </a:r>
            <a:endParaRPr lang="en-IN" dirty="0"/>
          </a:p>
        </p:txBody>
      </p:sp>
      <p:sp>
        <p:nvSpPr>
          <p:cNvPr id="26" name="TextBox 25">
            <a:extLst>
              <a:ext uri="{FF2B5EF4-FFF2-40B4-BE49-F238E27FC236}">
                <a16:creationId xmlns:a16="http://schemas.microsoft.com/office/drawing/2014/main" id="{DE39C4A9-BB40-5D93-6384-3B322B4B67D7}"/>
              </a:ext>
            </a:extLst>
          </p:cNvPr>
          <p:cNvSpPr txBox="1"/>
          <p:nvPr/>
        </p:nvSpPr>
        <p:spPr>
          <a:xfrm>
            <a:off x="4572000" y="3358127"/>
            <a:ext cx="4572000" cy="923330"/>
          </a:xfrm>
          <a:prstGeom prst="rect">
            <a:avLst/>
          </a:prstGeom>
          <a:noFill/>
        </p:spPr>
        <p:txBody>
          <a:bodyPr wrap="square">
            <a:spAutoFit/>
          </a:bodyPr>
          <a:lstStyle/>
          <a:p>
            <a:r>
              <a:rPr lang="en-US" dirty="0"/>
              <a:t>The final output is a dashboard that includes KPIs, charts, and filters to analyze inventory performance and risk levels.</a:t>
            </a:r>
            <a:endParaRPr lang="en-IN" dirty="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[Add description of Demo 1 here — what this demo shows, key features, and results achieved.]</a:t>
            </a:r>
            <a:endParaRPr lang="en-US" sz="1600" dirty="0">
              <a:latin typeface="Lato" panose="020F0502020204030203" pitchFamily="34" charset="0"/>
              <a:cs typeface="Arial" panose="020B0604020202020204" pitchFamily="34" charset="0"/>
            </a:endParaRPr>
          </a:p>
        </p:txBody>
      </p:sp>
      <p:sp>
        <p:nvSpPr>
          <p:cNvPr id="12" name="Shape 10"/>
          <p:cNvSpPr>
            <a:spLocks noGrp="1" noRot="1" noMove="1" noResize="1" noEditPoints="1" noAdjustHandles="1" noChangeArrowheads="1" noChangeShapeType="1"/>
          </p:cNvSpPr>
          <p:nvPr/>
        </p:nvSpPr>
        <p:spPr>
          <a:xfrm>
            <a:off x="3822192" y="1601042"/>
            <a:ext cx="1371600" cy="1371600"/>
          </a:xfrm>
          <a:prstGeom prst="ellipse">
            <a:avLst/>
          </a:prstGeom>
          <a:solidFill>
            <a:srgbClr val="FFC000"/>
          </a:solidFill>
          <a:ln w="38100">
            <a:solidFill>
              <a:srgbClr val="FFFFFF"/>
            </a:solidFill>
            <a:prstDash val="solid"/>
          </a:ln>
        </p:spPr>
        <p:txBody>
          <a:bodyPr/>
          <a:lstStyle/>
          <a:p>
            <a:r>
              <a:rPr lang="en-IN" sz="900" dirty="0">
                <a:latin typeface="Lato" panose="020F0502020204030203" pitchFamily="34" charset="0"/>
              </a:rPr>
              <a:t>CLEAN DATA</a:t>
            </a:r>
            <a:r>
              <a:rPr lang="en-IN" dirty="0">
                <a:latin typeface="Lato" panose="020F0502020204030203" pitchFamily="34" charset="0"/>
              </a:rPr>
              <a:t> </a:t>
            </a: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[Add description of Demo 2 here — what this demo shows, key features, and results achieved.]</a:t>
            </a:r>
            <a:endParaRPr lang="en-US" sz="1600" dirty="0">
              <a:latin typeface="Lato" panose="020F0502020204030203" pitchFamily="34" charset="0"/>
              <a:cs typeface="Arial" panose="020B0604020202020204" pitchFamily="34" charset="0"/>
            </a:endParaRPr>
          </a:p>
        </p:txBody>
      </p:sp>
      <p:sp>
        <p:nvSpPr>
          <p:cNvPr id="17" name="Shape 15"/>
          <p:cNvSpPr>
            <a:spLocks noGrp="1" noRot="1" noMove="1" noResize="1" noEditPoints="1" noAdjustHandles="1" noChangeArrowheads="1" noChangeShapeType="1"/>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r>
              <a:rPr lang="en-IN" sz="900" dirty="0">
                <a:latin typeface="Lato" panose="020F0502020204030203" pitchFamily="34" charset="0"/>
              </a:rPr>
              <a:t>DASHBOARD</a:t>
            </a: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[Add description of Demo 3 here — what this demo shows, key features, and results achieved.]</a:t>
            </a:r>
            <a:endParaRPr lang="en-US" sz="1600" dirty="0">
              <a:latin typeface="Lato" panose="020F0502020204030203" pitchFamily="34" charset="0"/>
              <a:cs typeface="Arial" panose="020B0604020202020204" pitchFamily="34" charset="0"/>
            </a:endParaRPr>
          </a:p>
        </p:txBody>
      </p:sp>
      <p:pic>
        <p:nvPicPr>
          <p:cNvPr id="3" name="Picture 2">
            <a:extLst>
              <a:ext uri="{FF2B5EF4-FFF2-40B4-BE49-F238E27FC236}">
                <a16:creationId xmlns:a16="http://schemas.microsoft.com/office/drawing/2014/main" id="{450AE186-E7F9-2E20-7D16-DD2D23C93F1A}"/>
              </a:ext>
            </a:extLst>
          </p:cNvPr>
          <p:cNvPicPr>
            <a:picLocks noChangeAspect="1"/>
          </p:cNvPicPr>
          <p:nvPr/>
        </p:nvPicPr>
        <p:blipFill>
          <a:blip r:embed="rId4"/>
          <a:stretch>
            <a:fillRect/>
          </a:stretch>
        </p:blipFill>
        <p:spPr>
          <a:xfrm>
            <a:off x="283464" y="2200479"/>
            <a:ext cx="2779776" cy="2707194"/>
          </a:xfrm>
          <a:prstGeom prst="rect">
            <a:avLst/>
          </a:prstGeom>
        </p:spPr>
      </p:pic>
      <p:pic>
        <p:nvPicPr>
          <p:cNvPr id="8" name="Picture 7">
            <a:extLst>
              <a:ext uri="{FF2B5EF4-FFF2-40B4-BE49-F238E27FC236}">
                <a16:creationId xmlns:a16="http://schemas.microsoft.com/office/drawing/2014/main" id="{AC430515-D123-ADDD-B48C-98B75B26185D}"/>
              </a:ext>
            </a:extLst>
          </p:cNvPr>
          <p:cNvPicPr>
            <a:picLocks noChangeAspect="1"/>
          </p:cNvPicPr>
          <p:nvPr/>
        </p:nvPicPr>
        <p:blipFill>
          <a:blip r:embed="rId5"/>
          <a:stretch>
            <a:fillRect/>
          </a:stretch>
        </p:blipFill>
        <p:spPr>
          <a:xfrm>
            <a:off x="3227832" y="2200479"/>
            <a:ext cx="2779776" cy="2679477"/>
          </a:xfrm>
          <a:prstGeom prst="rect">
            <a:avLst/>
          </a:prstGeom>
        </p:spPr>
      </p:pic>
      <p:pic>
        <p:nvPicPr>
          <p:cNvPr id="22" name="Picture 21">
            <a:extLst>
              <a:ext uri="{FF2B5EF4-FFF2-40B4-BE49-F238E27FC236}">
                <a16:creationId xmlns:a16="http://schemas.microsoft.com/office/drawing/2014/main" id="{B7293FD9-A5DB-92DF-9D93-480162425F29}"/>
              </a:ext>
            </a:extLst>
          </p:cNvPr>
          <p:cNvPicPr>
            <a:picLocks noChangeAspect="1"/>
          </p:cNvPicPr>
          <p:nvPr/>
        </p:nvPicPr>
        <p:blipFill>
          <a:blip r:embed="rId6"/>
          <a:stretch>
            <a:fillRect/>
          </a:stretch>
        </p:blipFill>
        <p:spPr>
          <a:xfrm>
            <a:off x="6163056" y="2228196"/>
            <a:ext cx="2788920" cy="2651760"/>
          </a:xfrm>
          <a:prstGeom prst="rect">
            <a:avLst/>
          </a:prstGeom>
        </p:spPr>
      </p:pic>
      <p:sp>
        <p:nvSpPr>
          <p:cNvPr id="23" name="TextBox 22">
            <a:extLst>
              <a:ext uri="{FF2B5EF4-FFF2-40B4-BE49-F238E27FC236}">
                <a16:creationId xmlns:a16="http://schemas.microsoft.com/office/drawing/2014/main" id="{F6F55C89-0243-444D-B7B3-BB3C8D41097B}"/>
              </a:ext>
            </a:extLst>
          </p:cNvPr>
          <p:cNvSpPr txBox="1">
            <a:spLocks/>
          </p:cNvSpPr>
          <p:nvPr/>
        </p:nvSpPr>
        <p:spPr>
          <a:xfrm>
            <a:off x="1339596" y="1856603"/>
            <a:ext cx="1097280" cy="246221"/>
          </a:xfrm>
          <a:prstGeom prst="rect">
            <a:avLst/>
          </a:prstGeom>
          <a:noFill/>
        </p:spPr>
        <p:txBody>
          <a:bodyPr wrap="square" rtlCol="0">
            <a:spAutoFit/>
          </a:bodyPr>
          <a:lstStyle/>
          <a:p>
            <a:r>
              <a:rPr lang="en-IN" sz="1000" dirty="0"/>
              <a:t>DATASET</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[https://your-project-demo-link.com]</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graphicFrame>
        <p:nvGraphicFramePr>
          <p:cNvPr id="5" name="Diagram 4">
            <a:extLst>
              <a:ext uri="{FF2B5EF4-FFF2-40B4-BE49-F238E27FC236}">
                <a16:creationId xmlns:a16="http://schemas.microsoft.com/office/drawing/2014/main" id="{49B8564E-9C2C-1D59-60BD-4E2427DFA8EA}"/>
              </a:ext>
            </a:extLst>
          </p:cNvPr>
          <p:cNvGraphicFramePr/>
          <p:nvPr>
            <p:extLst>
              <p:ext uri="{D42A27DB-BD31-4B8C-83A1-F6EECF244321}">
                <p14:modId xmlns:p14="http://schemas.microsoft.com/office/powerpoint/2010/main" val="2080960359"/>
              </p:ext>
            </p:extLst>
          </p:nvPr>
        </p:nvGraphicFramePr>
        <p:xfrm>
          <a:off x="163203" y="1556087"/>
          <a:ext cx="4572000" cy="203132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graphicFrame>
        <p:nvGraphicFramePr>
          <p:cNvPr id="6" name="Diagram 5">
            <a:extLst>
              <a:ext uri="{FF2B5EF4-FFF2-40B4-BE49-F238E27FC236}">
                <a16:creationId xmlns:a16="http://schemas.microsoft.com/office/drawing/2014/main" id="{20624594-BD87-CFA8-721A-C325FB8F446C}"/>
              </a:ext>
            </a:extLst>
          </p:cNvPr>
          <p:cNvGraphicFramePr/>
          <p:nvPr/>
        </p:nvGraphicFramePr>
        <p:xfrm>
          <a:off x="123247" y="1225956"/>
          <a:ext cx="4572000" cy="175432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TotalTime>
  <Words>576</Words>
  <Application>Microsoft Office PowerPoint</Application>
  <PresentationFormat>On-screen Show (16:9)</PresentationFormat>
  <Paragraphs>65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mayur solanki</cp:lastModifiedBy>
  <cp:revision>29</cp:revision>
  <dcterms:created xsi:type="dcterms:W3CDTF">2026-02-18T09:17:23Z</dcterms:created>
  <dcterms:modified xsi:type="dcterms:W3CDTF">2026-04-05T13:25:39Z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